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3c69d4458f496f" /><Relationship Type="http://schemas.openxmlformats.org/officeDocument/2006/relationships/extended-properties" Target="/docProps/app.xml" Id="Rb0f05ea3fa9246fa" /><Relationship Type="http://schemas.openxmlformats.org/officeDocument/2006/relationships/officeDocument" Target="/ppt/presentation.xml" Id="Rbb4ea608611d47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fb1735a9a1415b"/>
  </p:sldMasterIdLst>
  <p:notesMasterIdLst>
    <p:notesMasterId xmlns:r="http://schemas.openxmlformats.org/officeDocument/2006/relationships" r:id="Rb5786e71f6c3419b"/>
  </p:notesMasterIdLst>
  <p:sldIdLst>
    <p:sldId xmlns:r="http://schemas.openxmlformats.org/officeDocument/2006/relationships" id="256" r:id="R9af97c1450304c1b"/>
    <p:sldId xmlns:r="http://schemas.openxmlformats.org/officeDocument/2006/relationships" id="257" r:id="Re2283e20d2584ccb"/>
    <p:sldId xmlns:r="http://schemas.openxmlformats.org/officeDocument/2006/relationships" id="258" r:id="R17e728ec71924e39"/>
    <p:sldId xmlns:r="http://schemas.openxmlformats.org/officeDocument/2006/relationships" id="259" r:id="Ra9d3ad408ebf4727"/>
    <p:sldId xmlns:r="http://schemas.openxmlformats.org/officeDocument/2006/relationships" id="260" r:id="Reafa4dd404bc4f48"/>
    <p:sldId xmlns:r="http://schemas.openxmlformats.org/officeDocument/2006/relationships" id="261" r:id="R147877a87508482b"/>
    <p:sldId xmlns:r="http://schemas.openxmlformats.org/officeDocument/2006/relationships" id="262" r:id="Rb3167bdf30ea4377"/>
    <p:sldId xmlns:r="http://schemas.openxmlformats.org/officeDocument/2006/relationships" id="263" r:id="R3e4b749db9ae478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fb1735a9a1415b" /><Relationship Type="http://schemas.openxmlformats.org/officeDocument/2006/relationships/theme" Target="/ppt/theme/theme1.xml" Id="R701d4197cb384ee9" /><Relationship Type="http://schemas.openxmlformats.org/officeDocument/2006/relationships/notesMaster" Target="/ppt/notesMasters/notesMaster1.xml" Id="Rb5786e71f6c3419b" /><Relationship Type="http://schemas.openxmlformats.org/officeDocument/2006/relationships/presProps" Target="/ppt/presProps.xml" Id="R854e03c855e046fa" /><Relationship Type="http://schemas.openxmlformats.org/officeDocument/2006/relationships/viewProps" Target="/ppt/viewProps.xml" Id="R115d16aa8e274ee1" /><Relationship Type="http://schemas.openxmlformats.org/officeDocument/2006/relationships/tableStyles" Target="/ppt/tableStyles.xml" Id="R2c4d494c73c64665" /><Relationship Type="http://schemas.openxmlformats.org/officeDocument/2006/relationships/slide" Target="/ppt/slides/slide1.xml" Id="R9af97c1450304c1b" /><Relationship Type="http://schemas.openxmlformats.org/officeDocument/2006/relationships/slide" Target="/ppt/slides/slide2.xml" Id="Re2283e20d2584ccb" /><Relationship Type="http://schemas.openxmlformats.org/officeDocument/2006/relationships/slide" Target="/ppt/slides/slide3.xml" Id="R17e728ec71924e39" /><Relationship Type="http://schemas.openxmlformats.org/officeDocument/2006/relationships/slide" Target="/ppt/slides/slide4.xml" Id="Ra9d3ad408ebf4727" /><Relationship Type="http://schemas.openxmlformats.org/officeDocument/2006/relationships/slide" Target="/ppt/slides/slide5.xml" Id="Reafa4dd404bc4f48" /><Relationship Type="http://schemas.openxmlformats.org/officeDocument/2006/relationships/slide" Target="/ppt/slides/slide6.xml" Id="R147877a87508482b" /><Relationship Type="http://schemas.openxmlformats.org/officeDocument/2006/relationships/slide" Target="/ppt/slides/slide7.xml" Id="Rb3167bdf30ea4377" /><Relationship Type="http://schemas.openxmlformats.org/officeDocument/2006/relationships/slide" Target="/ppt/slides/slide8.xml" Id="R3e4b749db9ae47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f0c4099256740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33ae4b341d4dfa" /><Relationship Type="http://schemas.openxmlformats.org/officeDocument/2006/relationships/notesMaster" Target="/ppt/notesMasters/notesMaster1.xml" Id="R83439c72b5e14c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d3cf0f6cdb457b" /><Relationship Type="http://schemas.openxmlformats.org/officeDocument/2006/relationships/notesMaster" Target="/ppt/notesMasters/notesMaster1.xml" Id="Rcb6fca1ef5d948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6bab83d9724376" /><Relationship Type="http://schemas.openxmlformats.org/officeDocument/2006/relationships/notesMaster" Target="/ppt/notesMasters/notesMaster1.xml" Id="Rb5016618611d45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6c5c3584e64e31" /><Relationship Type="http://schemas.openxmlformats.org/officeDocument/2006/relationships/notesMaster" Target="/ppt/notesMasters/notesMaster1.xml" Id="R2d4c54e98fa940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ee9ee0875446fc" /><Relationship Type="http://schemas.openxmlformats.org/officeDocument/2006/relationships/notesMaster" Target="/ppt/notesMasters/notesMaster1.xml" Id="R9cb18cc2f9934b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16d2561ed94cdd" /><Relationship Type="http://schemas.openxmlformats.org/officeDocument/2006/relationships/notesMaster" Target="/ppt/notesMasters/notesMaster1.xml" Id="R774191d03a8547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432f7887f14dc7" /><Relationship Type="http://schemas.openxmlformats.org/officeDocument/2006/relationships/notesMaster" Target="/ppt/notesMasters/notesMaster1.xml" Id="R91eec136d56241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f74e495592498f" /><Relationship Type="http://schemas.openxmlformats.org/officeDocument/2006/relationships/notesMaster" Target="/ppt/notesMasters/notesMaster1.xml" Id="Rc3a86798739542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3a205a6f27464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beeb6baa66d4908" /><Relationship Type="http://schemas.openxmlformats.org/officeDocument/2006/relationships/slideLayout" Target="/ppt/slideLayouts/slideLayout2.xml" Id="R980e9d3d54eb41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0e9d3d54eb41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d6ffd582cc4b50" /><Relationship Type="http://schemas.openxmlformats.org/officeDocument/2006/relationships/notesSlide" Target="/ppt/notesSlides/notesSlide1.xml" Id="R123a349036bf49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f39331f8bc42c2" /><Relationship Type="http://schemas.openxmlformats.org/officeDocument/2006/relationships/notesSlide" Target="/ppt/notesSlides/notesSlide2.xml" Id="Ref72b39686f24b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dd6b49c2d440f5" /><Relationship Type="http://schemas.openxmlformats.org/officeDocument/2006/relationships/notesSlide" Target="/ppt/notesSlides/notesSlide3.xml" Id="Rd41412d8f43d40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767f3900fb45aa" /><Relationship Type="http://schemas.openxmlformats.org/officeDocument/2006/relationships/notesSlide" Target="/ppt/notesSlides/notesSlide4.xml" Id="R75214fe1c4ae48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40ad87da7a423e" /><Relationship Type="http://schemas.openxmlformats.org/officeDocument/2006/relationships/notesSlide" Target="/ppt/notesSlides/notesSlide5.xml" Id="R8e4b594e3b5948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bfdc226e9548b2" /><Relationship Type="http://schemas.openxmlformats.org/officeDocument/2006/relationships/notesSlide" Target="/ppt/notesSlides/notesSlide6.xml" Id="R2cb204c5232644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ebf31a7ba64d54" /><Relationship Type="http://schemas.openxmlformats.org/officeDocument/2006/relationships/notesSlide" Target="/ppt/notesSlides/notesSlide7.xml" Id="Rbf0f00b4c60a41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7424a223954a72" /><Relationship Type="http://schemas.openxmlformats.org/officeDocument/2006/relationships/notesSlide" Target="/ppt/notesSlides/notesSlide8.xml" Id="R00d81b94b0a149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B0393DB-E8CF-452A-B9DB-C4212A48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</p:spPr>
      </p:sp>
      <p:sp>
        <p:nvSpPr>
          <p:cNvPr id="2" name="tag-CN6035 · Mobile + API + Database">
            <a:extLst xmlns:a="http://schemas.openxmlformats.org/drawingml/2006/main">
              <a:ext uri="{FF2B5EF4-FFF2-40B4-BE49-F238E27FC236}">
                <a16:creationId xmlns:a16="http://schemas.microsoft.com/office/drawing/2014/main" id="{37CBE815-26A9-4CFC-A2CB-3DDAEE13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2753773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3B2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A99CD-9519-4134-A6B1-CFC815E3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19150"/>
            <a:ext cx="2419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CN6035 · Mobile + API + Database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7AD2F49-DC3D-4206-84ED-6C8132B8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8001000" cy="220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161616"/>
                </a:solidFill>
              </a:defRPr>
            </a:pPr>
            <a:r>
              <a:rPr sz="7200" b="1">
                <a:solidFill>
                  <a:srgbClr val="161616"/>
                </a:solidFill>
              </a:rPr>
              <a:t>Theatre Reservations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61930-918F-441F-8C64-3D5B1208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5619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5F6570"/>
                </a:solidFill>
              </a:defRPr>
            </a:pPr>
            <a:r>
              <a:rPr sz="2550">
                <a:solidFill>
                  <a:srgbClr val="5F6570"/>
                </a:solidFill>
              </a:rPr>
              <a:t>Πώς, πού και με τι υλοποιήθηκε η εργασία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88BBBF7-23A3-427D-898B-0DD899FB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72600"/>
            <a:ext cx="868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A8175"/>
                </a:solidFill>
              </a:defRPr>
            </a:pPr>
            <a:r>
              <a:rPr sz="1125">
                <a:solidFill>
                  <a:srgbClr val="8A8175"/>
                </a:solidFill>
              </a:rPr>
              <a:t>React Native + Expo · Node.js/Express REST API · Supabase PostgreSQL/Auth</a:t>
            </a:r>
          </a:p>
        </p:txBody>
      </p:sp>
      <p:sp>
        <p:nvSpPr>
          <p:cNvPr id="7" name="phone-frame">
            <a:extLst xmlns:a="http://schemas.openxmlformats.org/drawingml/2006/main">
              <a:ext uri="{FF2B5EF4-FFF2-40B4-BE49-F238E27FC236}">
                <a16:creationId xmlns:a16="http://schemas.microsoft.com/office/drawing/2014/main" id="{2D4D2DB6-DD24-4012-9D0B-912FDAD5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1524000"/>
            <a:ext cx="3905250" cy="72390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111318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51A61-4F62-4DEB-AD6F-8F3DEBCE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885950"/>
            <a:ext cx="1504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Theatre Reservations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1B823-1C44-47A4-8B32-6006DF79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19431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343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7E17C-6DA8-4BA2-9811-CF610ED8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324100"/>
            <a:ext cx="344805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C53B2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53EBF-414C-4F9D-93C8-5F87A52D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91465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Apollo Theatre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EFF63-267E-4056-AA9C-906159FB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314700"/>
            <a:ext cx="310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E1D6"/>
                </a:solidFill>
              </a:defRPr>
            </a:pPr>
            <a:r>
              <a:rPr sz="1200">
                <a:solidFill>
                  <a:srgbClr val="FFE1D6"/>
                </a:solidFill>
              </a:rPr>
              <a:t>Athens Center · Main Hall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8C5C3-8307-41A1-8A2D-3EF416CE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848100"/>
            <a:ext cx="1666875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242833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DF32E-2D8C-461E-8C94-72149E98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981450"/>
            <a:ext cx="72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Antigone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37677-2A57-4985-8204-03EE3BC7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267200"/>
            <a:ext cx="819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AB3C0"/>
                </a:solidFill>
              </a:defRPr>
            </a:pPr>
            <a:r>
              <a:rPr sz="1050">
                <a:solidFill>
                  <a:srgbClr val="AAB3C0"/>
                </a:solidFill>
              </a:rPr>
              <a:t>Drama · 95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8047F-B41C-48FD-84B2-9302DF63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3848100"/>
            <a:ext cx="1666875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242833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4E895-E1D5-4E76-A1B1-10746CAC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981450"/>
            <a:ext cx="108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Oppenheimer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99253-9DC2-4838-9CAE-7717CE23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4267200"/>
            <a:ext cx="819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AB3C0"/>
                </a:solidFill>
              </a:defRPr>
            </a:pPr>
            <a:r>
              <a:rPr sz="1050">
                <a:solidFill>
                  <a:srgbClr val="AAB3C0"/>
                </a:solidFill>
              </a:rPr>
              <a:t>Premiere IMAX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62391B-1BB6-4185-9C3B-B4D604E2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895850"/>
            <a:ext cx="34480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A1E26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87BAC3-B476-4CBB-A5AF-87397A38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067300"/>
            <a:ext cx="78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Seat 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61C39-6BE1-4A47-9ECE-49B213B7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4483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566070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9E1523-705F-4F95-BEE0-0284F4C4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54483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39EFEE-C482-49F3-8E07-B7322AF2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54483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E1803E-5D40-427A-A30F-578EE772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54483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E5BAC2-CAB9-4E2F-9347-D4128CC3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4483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044EF8-34F3-4447-8284-CF8127DF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54483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57A7E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2BD300-982C-4AFC-AC64-87002963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54483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686777-DFA0-41D2-A09F-3010FA37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54483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6A73E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B835DC-005B-40C3-B395-A3078E1D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7531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AA8734-DB98-44DB-AAF6-1265FAA1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57531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5C2611-0A06-4A8D-A3FD-4CC545B7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57531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57A7E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E3BDD2-BCDB-4789-88C5-8D507A21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57531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566070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AAB286-EB0B-4221-88B1-32B71F52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7531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B7B61C-4DC4-462C-8B03-14D321BC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57531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028D29-4FD0-45DF-8C6B-FB656DA3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57531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6A73E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20C6CF-5568-4CE4-918D-579E8599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57531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57A7E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8EDA6F-B472-4F10-A51C-E752B16E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0198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BB4A65-4146-448B-A087-9D3C2941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60198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D7D412-465E-4A18-B712-8435EE96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60198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346A24-3FC7-4651-84DA-B002D8C3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60198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9835A9-A749-4BCA-A09E-00B27308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60198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57A7E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6A1C6A-C53E-48C0-AD09-F8CCA80F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60198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6A73E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A98C59-12C1-4B8A-97F8-F5894145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60198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566070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BA867C-2546-4728-B21D-D1715A11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60198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3BFDD4-A18D-4A19-A5D7-740A9E36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3246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F78DF5-EE69-4895-AB7E-42687F18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63246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57A7E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28BAB1-2630-409B-9C51-4B7EF8BA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63246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11A20F-8011-481E-BA03-8075F6A8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63246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AF1EF9-4AD1-447F-A8D0-0BEE0070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63246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6A73E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F18C55-D38B-4699-B643-FBF98FEE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63246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9F0F7B-2709-4E82-9E94-C2D6F2F8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63246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57A7E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220AFC-D4F1-429A-85A3-51F2508E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63246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CBBD35D-3A0A-44FD-B004-DEA56C8F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5913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46476B-AA4C-486A-B27E-28FAC36F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65913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566070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7A0CD96-A7F6-4947-AA85-22E61284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65913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45019A-6A1F-4D61-BDD6-D4BEE31A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65913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6A73E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94DA342-CD43-4D43-8BEB-37AB340E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65913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819A9A7-7316-4004-B3A4-11B209CD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65913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7E14DDF-49D3-4863-B037-7711AFE2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65913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0A5710C-482C-4069-A105-D3F82C6C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65913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08FDE1-F1BB-4855-9D1F-4BBA6642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8961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57A7E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73F7587-E5CF-416B-A7AC-D85DF892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68961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F9ECC8-557B-4DF7-8497-61FD4B82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68961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6A73E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8EB6302-78B8-4E8F-AB04-B51A8ADB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68961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9F0BAFE-8273-4FB8-946E-BC8074FB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68961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566070"/>
          </a:solidFill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D615312-3056-4A44-B545-112CC998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68961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57A7E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09DFD58-0B28-46C7-AD7B-FC3A2D6D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68961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ECF38AD-B4D1-4CDB-9BEC-61954723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6896100"/>
            <a:ext cx="2476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CF2"/>
          </a:solidFill>
        </p:spPr>
      </p:sp>
      <p:sp>
        <p:nvSpPr>
          <p:cNvPr id="69" name="tag-VIP">
            <a:extLst xmlns:a="http://schemas.openxmlformats.org/drawingml/2006/main">
              <a:ext uri="{FF2B5EF4-FFF2-40B4-BE49-F238E27FC236}">
                <a16:creationId xmlns:a16="http://schemas.microsoft.com/office/drawing/2014/main" id="{FF2171A5-5669-4F07-B047-72DA8972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250430"/>
            <a:ext cx="581216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A73E"/>
          </a:solidFill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C79D1B8-C0DD-4CA7-B716-BBD5203F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7334250"/>
            <a:ext cx="247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VIP</a:t>
            </a:r>
          </a:p>
        </p:txBody>
      </p:sp>
      <p:sp>
        <p:nvSpPr>
          <p:cNvPr id="71" name="tag-Selected">
            <a:extLst xmlns:a="http://schemas.openxmlformats.org/drawingml/2006/main">
              <a:ext uri="{FF2B5EF4-FFF2-40B4-BE49-F238E27FC236}">
                <a16:creationId xmlns:a16="http://schemas.microsoft.com/office/drawing/2014/main" id="{C9064064-DB32-42D5-B802-9AE3F110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3716" y="7250430"/>
            <a:ext cx="946023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A7E"/>
          </a:solidFill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4379AEB-CF4A-4165-9540-1D024D53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33425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Selected</a:t>
            </a:r>
          </a:p>
        </p:txBody>
      </p:sp>
      <p:sp>
        <p:nvSpPr>
          <p:cNvPr id="73" name="tag-Reserved">
            <a:extLst xmlns:a="http://schemas.openxmlformats.org/drawingml/2006/main">
              <a:ext uri="{FF2B5EF4-FFF2-40B4-BE49-F238E27FC236}">
                <a16:creationId xmlns:a16="http://schemas.microsoft.com/office/drawing/2014/main" id="{5C6E5455-0109-4576-A7ED-7FC47B71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4039" y="7250430"/>
            <a:ext cx="998125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6070"/>
          </a:solidFill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CF70FBB-1F14-408B-BE82-4D028AD6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334250"/>
            <a:ext cx="647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Reserved</a:t>
            </a:r>
          </a:p>
        </p:txBody>
      </p:sp>
    </p:spTree>
    <p:extLst>
      <p:ext uri="{BB962C8B-B14F-4D97-AF65-F5344CB8AC3E}">
        <p14:creationId xmlns:p14="http://schemas.microsoft.com/office/powerpoint/2010/main" val="11481261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24E231E-120C-4B1A-87F7-B88F6CD1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AD9B2F-723C-4F0A-B624-A7EEACB9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61616"/>
                </a:solidFill>
              </a:defRPr>
            </a:pPr>
            <a:r>
              <a:rPr sz="4650" b="1">
                <a:solidFill>
                  <a:srgbClr val="161616"/>
                </a:solidFill>
              </a:rPr>
              <a:t>Τι έφτιαξα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DA44180-C8DE-41F3-B475-A03B80AA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12401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F6570"/>
                </a:solidFill>
              </a:defRPr>
            </a:pPr>
            <a:r>
              <a:rPr sz="2100">
                <a:solidFill>
                  <a:srgbClr val="5F6570"/>
                </a:solidFill>
              </a:rPr>
              <a:t>Μια ολοκληρωμένη εφαρμογή κρατήσεων για θέατρα και προβολές cinema, με πραγματική ροή χρήστη από login μέχρι επιλογή θέσης.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972EC-D8F6-42DA-8905-E8E4C87A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6040"/>
            <a:ext cx="5334000" cy="640461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9EF"/>
          </a:solidFill>
        </p:spPr>
      </p:sp>
      <p:sp>
        <p:nvSpPr>
          <p:cNvPr id="5" name="tag-Frontend">
            <a:extLst xmlns:a="http://schemas.openxmlformats.org/drawingml/2006/main">
              <a:ext uri="{FF2B5EF4-FFF2-40B4-BE49-F238E27FC236}">
                <a16:creationId xmlns:a16="http://schemas.microsoft.com/office/drawing/2014/main" id="{7D9DAE17-B426-405D-8700-B219D277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91790"/>
            <a:ext cx="990695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A7E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E5F51-D8C6-45A9-A756-B9D5B0A5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71800"/>
            <a:ext cx="647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25DDC-EB32-4207-8D0A-B4958A72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57600"/>
            <a:ext cx="99060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Mobile app σε Expo 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93FF3-E243-4C39-A6A3-F3E570B5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29250"/>
            <a:ext cx="990600" cy="3028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570"/>
                </a:solidFill>
              </a:defRPr>
            </a:pPr>
            <a:r>
              <a:rPr sz="1800">
                <a:solidFill>
                  <a:srgbClr val="5F6570"/>
                </a:solidFill>
              </a:rPr>
              <a:t>Ο χρήστης βλέπει θέατρα, παραστάσεις, ώρες προβολής και χάρτη θέσεων μέσα από React Native UI.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A5E6D-CAE4-4CC7-AE3E-34B5C3BA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6040"/>
            <a:ext cx="5334000" cy="640461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9EF"/>
          </a:solidFill>
        </p:spPr>
      </p:sp>
      <p:sp>
        <p:nvSpPr>
          <p:cNvPr id="10" name="tag-Backend">
            <a:extLst xmlns:a="http://schemas.openxmlformats.org/drawingml/2006/main">
              <a:ext uri="{FF2B5EF4-FFF2-40B4-BE49-F238E27FC236}">
                <a16:creationId xmlns:a16="http://schemas.microsoft.com/office/drawing/2014/main" id="{4A48BAFC-8CBB-4B23-9043-1BBA2EFA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1790"/>
            <a:ext cx="943356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3B2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5B9D8-434D-48F8-A470-0E251439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71800"/>
            <a:ext cx="609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9090D-521D-46B7-B749-2F2598B2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95250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REST API σε Express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F8D1D0-ECDD-4F4E-9403-FAC10AD1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29250"/>
            <a:ext cx="952500" cy="413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570"/>
                </a:solidFill>
              </a:defRPr>
            </a:pPr>
            <a:r>
              <a:rPr sz="1800">
                <a:solidFill>
                  <a:srgbClr val="5F6570"/>
                </a:solidFill>
              </a:rPr>
              <a:t>Οι λειτουργίες χωρίστηκαν σε routes, controllers, validation schemas και middleware για authentication.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23419-BD08-407F-B627-4155ECE4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606040"/>
            <a:ext cx="5334000" cy="640461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9EF"/>
          </a:solidFill>
        </p:spPr>
      </p:sp>
      <p:sp>
        <p:nvSpPr>
          <p:cNvPr id="15" name="tag-Database">
            <a:extLst xmlns:a="http://schemas.openxmlformats.org/drawingml/2006/main">
              <a:ext uri="{FF2B5EF4-FFF2-40B4-BE49-F238E27FC236}">
                <a16:creationId xmlns:a16="http://schemas.microsoft.com/office/drawing/2014/main" id="{AF1993A6-8F60-43EF-BBBC-2F7917E7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891790"/>
            <a:ext cx="1007745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C8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0D020-CDB0-46C2-84CC-AEA0D6BC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297180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031B0-C0A2-40EF-8188-D9A66A3F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657600"/>
            <a:ext cx="10096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Supabase 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A1236-E2A9-49B4-ADE6-B5D41A29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429250"/>
            <a:ext cx="1009650" cy="3581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570"/>
                </a:solidFill>
              </a:defRPr>
            </a:pPr>
            <a:r>
              <a:rPr sz="1800">
                <a:solidFill>
                  <a:srgbClr val="5F6570"/>
                </a:solidFill>
              </a:rPr>
              <a:t>Η βάση κρατά theatres, shows, showtimes, seats και reservations με κλειδιά, RLS policies και RPC functions.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BA454421-6B14-4B50-A344-7CE8CD57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A8175"/>
                </a:solidFill>
              </a:defRPr>
            </a:pPr>
            <a:r>
              <a:rPr sz="1125">
                <a:solidFill>
                  <a:srgbClr val="8A8175"/>
                </a:solidFill>
              </a:rPr>
              <a:t>Πηγή: solution/README.md, solution/api, solution/mobile, solution/supabase/schema.sql</a:t>
            </a:r>
          </a:p>
        </p:txBody>
      </p:sp>
    </p:spTree>
    <p:extLst>
      <p:ext uri="{BB962C8B-B14F-4D97-AF65-F5344CB8AC3E}">
        <p14:creationId xmlns:p14="http://schemas.microsoft.com/office/powerpoint/2010/main" val="7980462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80DCC0F-79E8-4526-8C37-05F5A393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3F7C9F-C886-4C40-BCAB-9E689226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61616"/>
                </a:solidFill>
              </a:defRPr>
            </a:pPr>
            <a:r>
              <a:rPr sz="4650" b="1">
                <a:solidFill>
                  <a:srgbClr val="161616"/>
                </a:solidFill>
              </a:rPr>
              <a:t>Πού έγινε η υλοποίηση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B390499-BDB4-4085-BFB3-B19D1146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113728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F6570"/>
                </a:solidFill>
              </a:defRPr>
            </a:pPr>
            <a:r>
              <a:rPr sz="2100">
                <a:solidFill>
                  <a:srgbClr val="5F6570"/>
                </a:solidFill>
              </a:rPr>
              <a:t>Η εργασία οργανώθηκε σε τρία βασικά μέρη ώστε κάθε επίπεδο του distributed system να είναι καθαρό.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18F3B-C107-4984-8EDB-3129B854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A7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F5369-DAF8-4517-9F2A-3E44EAC5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67250"/>
            <a:ext cx="6877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1616"/>
                </a:solidFill>
              </a:defRPr>
            </a:pPr>
            <a:r>
              <a:rPr sz="1950" b="1">
                <a:solidFill>
                  <a:srgbClr val="161616"/>
                </a:solidFill>
              </a:rPr>
              <a:t>solution/mobile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AE2E5-BAAD-481F-A781-5CCC94ED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91100"/>
            <a:ext cx="687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React Native screens, API client, secure token storage και UI κρατήσεων.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FCA59-7BC4-42AB-BB2A-90253349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3B2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A3548-0085-4BB9-AC4E-D5A8DF42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05450"/>
            <a:ext cx="6877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1616"/>
                </a:solidFill>
              </a:defRPr>
            </a:pPr>
            <a:r>
              <a:rPr sz="1950" b="1">
                <a:solidFill>
                  <a:srgbClr val="161616"/>
                </a:solidFill>
              </a:rPr>
              <a:t>solution/api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9BBBE-9950-4938-8512-BBB0BFCB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48350"/>
            <a:ext cx="687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Express server, REST routes, controllers, Zod validation και Supabase client.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1E88A-A50F-4C56-8A3C-178A88D2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627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C8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60792-F06A-4ECB-AF63-52FA5694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362700"/>
            <a:ext cx="6877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1616"/>
                </a:solidFill>
              </a:defRPr>
            </a:pPr>
            <a:r>
              <a:rPr sz="1950" b="1">
                <a:solidFill>
                  <a:srgbClr val="161616"/>
                </a:solidFill>
              </a:rPr>
              <a:t>solution/supabase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1498B-85B8-4584-8007-95D59101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686550"/>
            <a:ext cx="687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SQL schema, sample data, RLS policies και functions για κρατήσεις.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ECA9E-8208-4E19-8DE6-4EBA6303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67940"/>
            <a:ext cx="8801100" cy="6480810"/>
          </a:xfrm>
          <a:prstGeom xmlns:a="http://schemas.openxmlformats.org/drawingml/2006/main" prst="roundRect">
            <a:avLst>
              <a:gd name="adj" fmla="val 4115"/>
            </a:avLst>
          </a:prstGeom>
          <a:solidFill xmlns:a="http://schemas.openxmlformats.org/drawingml/2006/main">
            <a:srgbClr val="101820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CC861-DFF6-4198-954D-AF977B71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95600"/>
            <a:ext cx="1714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Project 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A5DB7-25AC-428D-B3D6-B02A7157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57600"/>
            <a:ext cx="1714500" cy="466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F8E9C8"/>
                </a:solidFill>
              </a:defRPr>
            </a:pPr>
            <a:r>
              <a:rPr sz="2550">
                <a:solidFill>
                  <a:srgbClr val="F8E9C8"/>
                </a:solidFill>
              </a:rPr>
              <a:t>solution/</a:t>
            </a:r>
          </a:p>
          <a:p xmlns:a="http://schemas.openxmlformats.org/drawingml/2006/main">
            <a:pPr>
              <a:defRPr sz="2550">
                <a:solidFill>
                  <a:srgbClr val="F8E9C8"/>
                </a:solidFill>
              </a:defRPr>
            </a:pPr>
            <a:r>
              <a:rPr sz="2550">
                <a:solidFill>
                  <a:srgbClr val="F8E9C8"/>
                </a:solidFill>
              </a:rPr>
              <a:t>  mobile/     Expo React Native app</a:t>
            </a:r>
          </a:p>
          <a:p xmlns:a="http://schemas.openxmlformats.org/drawingml/2006/main">
            <a:pPr>
              <a:defRPr sz="2550">
                <a:solidFill>
                  <a:srgbClr val="F8E9C8"/>
                </a:solidFill>
              </a:defRPr>
            </a:pPr>
            <a:r>
              <a:rPr sz="2550">
                <a:solidFill>
                  <a:srgbClr val="F8E9C8"/>
                </a:solidFill>
              </a:rPr>
              <a:t>  api/        Node.js + Express REST API</a:t>
            </a:r>
          </a:p>
          <a:p xmlns:a="http://schemas.openxmlformats.org/drawingml/2006/main">
            <a:pPr>
              <a:defRPr sz="2550">
                <a:solidFill>
                  <a:srgbClr val="F8E9C8"/>
                </a:solidFill>
              </a:defRPr>
            </a:pPr>
            <a:r>
              <a:rPr sz="2550">
                <a:solidFill>
                  <a:srgbClr val="F8E9C8"/>
                </a:solidFill>
              </a:rPr>
              <a:t>  supabase/   PostgreSQL schema + seed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3EF03-01C4-41CD-9BAE-324757CD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4963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14C"/>
          </a:solidFill>
          <a:ln xmlns:a="http://schemas.openxmlformats.org/drawingml/2006/main" w="0">
            <a:solidFill>
              <a:srgbClr val="3841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0DF53-07CB-4761-89D7-672B8ECD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686800"/>
            <a:ext cx="1714500" cy="220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9D2DC"/>
                </a:solidFill>
              </a:defRPr>
            </a:pPr>
            <a:r>
              <a:rPr sz="1800">
                <a:solidFill>
                  <a:srgbClr val="C9D2DC"/>
                </a:solidFill>
              </a:rPr>
              <a:t>Με αυτόν τον διαχωρισμό η εφαρμογή διαβάζεται εύκολα: client, server και database έχουν ξεκάθαρο ρόλο.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482A878D-F04A-400E-8221-59705869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A8175"/>
                </a:solidFill>
              </a:defRPr>
            </a:pPr>
            <a:r>
              <a:rPr sz="1125">
                <a:solidFill>
                  <a:srgbClr val="8A8175"/>
                </a:solidFill>
              </a:rPr>
              <a:t>Ο φάκελος της εργασίας βρίσκεται στο C:\Users\styli\Downloads\theater</a:t>
            </a:r>
          </a:p>
        </p:txBody>
      </p:sp>
    </p:spTree>
    <p:extLst>
      <p:ext uri="{BB962C8B-B14F-4D97-AF65-F5344CB8AC3E}">
        <p14:creationId xmlns:p14="http://schemas.microsoft.com/office/powerpoint/2010/main" val="4635120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CD1CAA5-F18D-44ED-B24F-A96965ED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0ED0DE-B576-44EA-A6F4-B103B15A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61616"/>
                </a:solidFill>
              </a:defRPr>
            </a:pPr>
            <a:r>
              <a:rPr sz="4650" b="1">
                <a:solidFill>
                  <a:srgbClr val="161616"/>
                </a:solidFill>
              </a:rPr>
              <a:t>Πώς δουλεύει η αρχιτεκτονική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5267528-54D5-45E5-802B-4DD7EB6F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10115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F6570"/>
                </a:solidFill>
              </a:defRPr>
            </a:pPr>
            <a:r>
              <a:rPr sz="2100">
                <a:solidFill>
                  <a:srgbClr val="5F6570"/>
                </a:solidFill>
              </a:rPr>
              <a:t>Η εφαρμογή ακολουθεί την κλασική ροή mobile client → REST API → database/auth provider.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EFCD6-2874-4A18-95AF-5B8C8CC8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762500" cy="34290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7F5F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88B7B-0284-4F6C-93A8-38B068FF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00550"/>
            <a:ext cx="342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57A7E"/>
                </a:solidFill>
              </a:defRPr>
            </a:pPr>
            <a:r>
              <a:rPr sz="5250" b="1">
                <a:solidFill>
                  <a:srgbClr val="157A7E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245AD-94CC-45F5-983A-E9EE3DBC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53050"/>
            <a:ext cx="16764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1616"/>
                </a:solidFill>
              </a:defRPr>
            </a:pPr>
            <a:r>
              <a:rPr sz="2700" b="1">
                <a:solidFill>
                  <a:srgbClr val="161616"/>
                </a:solidFill>
              </a:rPr>
              <a:t>Mobile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A1CBA-BD57-42CA-B6A0-39F2C019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24600"/>
            <a:ext cx="140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570"/>
                </a:solidFill>
              </a:defRPr>
            </a:pPr>
            <a:r>
              <a:rPr sz="1800">
                <a:solidFill>
                  <a:srgbClr val="5F6570"/>
                </a:solidFill>
              </a:rPr>
              <a:t>Expo Go</a:t>
            </a:r>
          </a:p>
          <a:p xmlns:a="http://schemas.openxmlformats.org/drawingml/2006/main">
            <a:pPr>
              <a:defRPr sz="1800">
                <a:solidFill>
                  <a:srgbClr val="5F6570"/>
                </a:solidFill>
              </a:defRPr>
            </a:pPr>
            <a:r>
              <a:rPr sz="1800">
                <a:solidFill>
                  <a:srgbClr val="5F6570"/>
                </a:solidFill>
              </a:rPr>
              <a:t>React Native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9F782-8B8C-4D21-B0A3-BB2B9A89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448300"/>
            <a:ext cx="666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C53B2F"/>
                </a:solidFill>
              </a:defRPr>
            </a:pPr>
            <a:r>
              <a:rPr sz="4800" b="1">
                <a:solidFill>
                  <a:srgbClr val="C53B2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89503-E107-4318-AC86-2BF3B85A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4762500" cy="34290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CE9E4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28EDE-079C-40AA-8694-1E70A585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00550"/>
            <a:ext cx="342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C53B2F"/>
                </a:solidFill>
              </a:defRPr>
            </a:pPr>
            <a:r>
              <a:rPr sz="5250" b="1">
                <a:solidFill>
                  <a:srgbClr val="C53B2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0D60A-7787-432E-A0AA-8B1C4AA4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53050"/>
            <a:ext cx="1257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1616"/>
                </a:solidFill>
              </a:defRPr>
            </a:pPr>
            <a:r>
              <a:rPr sz="2700" b="1">
                <a:solidFill>
                  <a:srgbClr val="161616"/>
                </a:solidFill>
              </a:rPr>
              <a:t>REST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25298-8F05-483B-A941-4D19C699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924550"/>
            <a:ext cx="1524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570"/>
                </a:solidFill>
              </a:defRPr>
            </a:pPr>
            <a:r>
              <a:rPr sz="1800">
                <a:solidFill>
                  <a:srgbClr val="5F6570"/>
                </a:solidFill>
              </a:rPr>
              <a:t>Express routes</a:t>
            </a:r>
          </a:p>
          <a:p xmlns:a="http://schemas.openxmlformats.org/drawingml/2006/main">
            <a:pPr>
              <a:defRPr sz="1800">
                <a:solidFill>
                  <a:srgbClr val="5F6570"/>
                </a:solidFill>
              </a:defRPr>
            </a:pPr>
            <a:r>
              <a:rPr sz="1800">
                <a:solidFill>
                  <a:srgbClr val="5F6570"/>
                </a:solidFill>
              </a:rPr>
              <a:t>JWT middleware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80425-38F3-46A6-A295-3A1717F0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448300"/>
            <a:ext cx="666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C53B2F"/>
                </a:solidFill>
              </a:defRPr>
            </a:pPr>
            <a:r>
              <a:rPr sz="4800" b="1">
                <a:solidFill>
                  <a:srgbClr val="C53B2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D057C-3566-4EB1-9320-A545D076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4095750"/>
            <a:ext cx="4762500" cy="34290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AF0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C4FAA-E57C-413F-BE53-A9E60990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400550"/>
            <a:ext cx="342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244C8F"/>
                </a:solidFill>
              </a:defRPr>
            </a:pPr>
            <a:r>
              <a:rPr sz="5250" b="1">
                <a:solidFill>
                  <a:srgbClr val="244C8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25B73-FB9C-4414-8805-2B5053C3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353050"/>
            <a:ext cx="1371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1616"/>
                </a:solidFill>
              </a:defRPr>
            </a:pPr>
            <a:r>
              <a:rPr sz="2700" b="1">
                <a:solidFill>
                  <a:srgbClr val="161616"/>
                </a:solidFill>
              </a:rPr>
              <a:t>Supabase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242C8-DF1C-416D-A4F8-91CAC99F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924550"/>
            <a:ext cx="1562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570"/>
                </a:solidFill>
              </a:defRPr>
            </a:pPr>
            <a:r>
              <a:rPr sz="1800">
                <a:solidFill>
                  <a:srgbClr val="5F6570"/>
                </a:solidFill>
              </a:rPr>
              <a:t>PostgreSQL</a:t>
            </a:r>
          </a:p>
          <a:p xmlns:a="http://schemas.openxmlformats.org/drawingml/2006/main">
            <a:pPr>
              <a:defRPr sz="1800">
                <a:solidFill>
                  <a:srgbClr val="5F6570"/>
                </a:solidFill>
              </a:defRPr>
            </a:pPr>
            <a:r>
              <a:rPr sz="1800">
                <a:solidFill>
                  <a:srgbClr val="5F6570"/>
                </a:solidFill>
              </a:rPr>
              <a:t>Auth + RLS + RPC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B67FAF3D-432B-48C8-BEE1-D67A7AA7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A8175"/>
                </a:solidFill>
              </a:defRPr>
            </a:pPr>
            <a:r>
              <a:rPr sz="1125">
                <a:solidFill>
                  <a:srgbClr val="8A8175"/>
                </a:solidFill>
              </a:rPr>
              <a:t>Protected API calls use Authorization: Bearer &lt;supabase-access-token&gt;</a:t>
            </a:r>
          </a:p>
        </p:txBody>
      </p:sp>
    </p:spTree>
    <p:extLst>
      <p:ext uri="{BB962C8B-B14F-4D97-AF65-F5344CB8AC3E}">
        <p14:creationId xmlns:p14="http://schemas.microsoft.com/office/powerpoint/2010/main" val="2862362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3F1CBA3-DF2D-48CB-9036-1711F940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609BB2-EC80-4CF3-9374-2B457406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61616"/>
                </a:solidFill>
              </a:defRPr>
            </a:pPr>
            <a:r>
              <a:rPr sz="4650" b="1">
                <a:solidFill>
                  <a:srgbClr val="161616"/>
                </a:solidFill>
              </a:rPr>
              <a:t>Με τι τεχνολογίες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F5909E9-BECB-443D-B460-D288C35A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10934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F6570"/>
                </a:solidFill>
              </a:defRPr>
            </a:pPr>
            <a:r>
              <a:rPr sz="2100">
                <a:solidFill>
                  <a:srgbClr val="5F6570"/>
                </a:solidFill>
              </a:rPr>
              <a:t>Επέλεξα εργαλεία που καλύπτουν καθαρά frontend, backend, authentication και relational database.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45635-CD40-41BB-B56D-6DFDE8EE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A7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D1FAE-F441-4996-A8A8-CB24B911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7696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1616"/>
                </a:solidFill>
              </a:defRPr>
            </a:pPr>
            <a:r>
              <a:rPr sz="1950" b="1">
                <a:solidFill>
                  <a:srgbClr val="161616"/>
                </a:solidFill>
              </a:rPr>
              <a:t>React Native + Expo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E39E5-EB9B-4758-BAF0-0ADEEB2D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Για γρήγορο mobile development και δοκιμή με Expo Go.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E72E1-0E72-439C-B238-0B15224A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A7E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0BD82-579E-4329-8269-7F4C389F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53050"/>
            <a:ext cx="7696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1616"/>
                </a:solidFill>
              </a:defRPr>
            </a:pPr>
            <a:r>
              <a:rPr sz="1950" b="1">
                <a:solidFill>
                  <a:srgbClr val="161616"/>
                </a:solidFill>
              </a:rPr>
              <a:t>Expo Secure Store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ECBAF-6844-47B5-B90C-E523812A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769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Για αποθήκευση token με ασφαλέστερο τρόπο στο κινητό.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DD5CA-1433-4C9B-9A7A-952A184E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722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3B2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65A9A-4662-474E-808B-9021EBD1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172200"/>
            <a:ext cx="7696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1616"/>
                </a:solidFill>
              </a:defRPr>
            </a:pPr>
            <a:r>
              <a:rPr sz="1950" b="1">
                <a:solidFill>
                  <a:srgbClr val="161616"/>
                </a:solidFill>
              </a:rPr>
              <a:t>Node.js + Express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7C6B5-968C-4802-BE5A-7DB8B0A3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5151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Για REST endpoints και απλή, καθαρή σύνδεση client-server.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68DF1-638D-492F-AD28-E2D8BD1A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148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C8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01ECE-A723-4187-A005-9431D6E5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14850"/>
            <a:ext cx="7696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1616"/>
                </a:solidFill>
              </a:defRPr>
            </a:pPr>
            <a:r>
              <a:rPr sz="1950" b="1">
                <a:solidFill>
                  <a:srgbClr val="161616"/>
                </a:solidFill>
              </a:rPr>
              <a:t>Supabase Auth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AFF8B-7AAE-437E-A9DE-DFA36E69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5775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Για registration/login και JWT access tokens.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421EA-22CA-4676-90E2-1D5D541F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3530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C8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F96F6-2652-449C-885D-C97CA81A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53050"/>
            <a:ext cx="7696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1616"/>
                </a:solidFill>
              </a:defRPr>
            </a:pPr>
            <a:r>
              <a:rPr sz="1950" b="1">
                <a:solidFill>
                  <a:srgbClr val="161616"/>
                </a:solidFill>
              </a:rPr>
              <a:t>Supabase 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FDB8D-919E-46E1-9411-453D2148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769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Για relational tables, keys, indexes και πολιτικές RLS.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DF445-A1B5-47A1-9FB1-15193519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1722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A73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13EB13-BB62-4910-A2DC-E3883772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72200"/>
            <a:ext cx="7696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1616"/>
                </a:solidFill>
              </a:defRPr>
            </a:pPr>
            <a:r>
              <a:rPr sz="1950" b="1">
                <a:solidFill>
                  <a:srgbClr val="161616"/>
                </a:solidFill>
              </a:rPr>
              <a:t>Zod + middleware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E485E3-F089-4A84-BC4C-C0CE2394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151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Για validation στα requests και έλεγχο πρόσβασης στα protected routes.</a:t>
            </a:r>
          </a:p>
        </p:txBody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9CEF8C47-CDF8-4080-A63F-6D16CE46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A8175"/>
                </a:solidFill>
              </a:defRPr>
            </a:pPr>
            <a:r>
              <a:rPr sz="1125">
                <a:solidFill>
                  <a:srgbClr val="8A8175"/>
                </a:solidFill>
              </a:rPr>
              <a:t>Κύριες dependencies: expo, react-native, express, @supabase/supabase-js, zod, helmet, cors</a:t>
            </a:r>
          </a:p>
        </p:txBody>
      </p:sp>
    </p:spTree>
    <p:extLst>
      <p:ext uri="{BB962C8B-B14F-4D97-AF65-F5344CB8AC3E}">
        <p14:creationId xmlns:p14="http://schemas.microsoft.com/office/powerpoint/2010/main" val="9235756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D7CDC9B-F70F-4A50-A338-30F6A9D1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CB9AA5-E3A2-4DBD-B16A-5FFD4A87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61616"/>
                </a:solidFill>
              </a:defRPr>
            </a:pPr>
            <a:r>
              <a:rPr sz="4650" b="1">
                <a:solidFill>
                  <a:srgbClr val="161616"/>
                </a:solidFill>
              </a:rPr>
              <a:t>Η ροή του χρήστη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D84E310-C732-4856-9046-76AEAC71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8058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F6570"/>
                </a:solidFill>
              </a:defRPr>
            </a:pPr>
            <a:r>
              <a:rPr sz="2100">
                <a:solidFill>
                  <a:srgbClr val="5F6570"/>
                </a:solidFill>
              </a:rPr>
              <a:t>Η εφαρμογή σχεδιάστηκε γύρω από τη φυσική διαδικασία μιας κράτησης.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FCF21-8337-4BC3-B2CF-E2E19353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78105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C53B2F"/>
                </a:solidFill>
              </a:defRPr>
            </a:pPr>
            <a:r>
              <a:rPr sz="6000" b="1">
                <a:solidFill>
                  <a:srgbClr val="C53B2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B839C-E348-4587-A03C-CFF41775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3B2F"/>
          </a:solidFill>
          <a:ln xmlns:a="http://schemas.openxmlformats.org/drawingml/2006/main" w="0">
            <a:solidFill>
              <a:srgbClr val="C53B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1B366-D7B6-453D-8242-8CBFDC86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3981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Εγγραφή / 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14808-6D17-4245-828D-AB584AFD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3981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Ο χρήστης μπαίνει με email και password μέσω Supabase Auth.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BE1FE-5541-4AB9-935E-35C78914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9800"/>
            <a:ext cx="78105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157A7E"/>
                </a:solidFill>
              </a:defRPr>
            </a:pPr>
            <a:r>
              <a:rPr sz="6000" b="1">
                <a:solidFill>
                  <a:srgbClr val="157A7E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6380A-186E-44C1-9D99-C00CC9A2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29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7E"/>
          </a:solidFill>
          <a:ln xmlns:a="http://schemas.openxmlformats.org/drawingml/2006/main" w="0">
            <a:solidFill>
              <a:srgbClr val="157A7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2683F-2BD0-4A25-8C27-04C5EB0C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76750"/>
            <a:ext cx="3981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Αναζήτηση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8E747-13B3-4C96-9819-C4442416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48250"/>
            <a:ext cx="3981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Φιλτράρει θέατρα, τοποθεσίες, τίτλους, κατηγορίες και προβολές.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6011A-897B-44C5-A0A7-509DA78D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09800"/>
            <a:ext cx="78105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D6A73E"/>
                </a:solidFill>
              </a:defRPr>
            </a:pPr>
            <a:r>
              <a:rPr sz="6000" b="1">
                <a:solidFill>
                  <a:srgbClr val="D6A73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ADE88-AABA-4B74-A387-50C35C09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29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73E"/>
          </a:solidFill>
          <a:ln xmlns:a="http://schemas.openxmlformats.org/drawingml/2006/main" w="0">
            <a:solidFill>
              <a:srgbClr val="D6A7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31078-BE16-4C72-9402-08106A2A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76750"/>
            <a:ext cx="3981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Επιλογή θέσης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403C8-83E3-4DE3-A7B7-BA5AF904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48250"/>
            <a:ext cx="3981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Βλέπει visual seat map με VIP, premium, standard και reserved seats.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056FE-D7F2-44E0-8250-A513C1F6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2209800"/>
            <a:ext cx="78105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244C8F"/>
                </a:solidFill>
              </a:defRPr>
            </a:pPr>
            <a:r>
              <a:rPr sz="6000" b="1">
                <a:solidFill>
                  <a:srgbClr val="244C8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AF99E-26E6-4EA1-96BC-95942384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229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8F"/>
          </a:solidFill>
          <a:ln xmlns:a="http://schemas.openxmlformats.org/drawingml/2006/main" w="0">
            <a:solidFill>
              <a:srgbClr val="244C8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76CB1-C018-4003-863B-DD835D22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476750"/>
            <a:ext cx="3981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616"/>
                </a:solidFill>
              </a:defRPr>
            </a:pPr>
            <a:r>
              <a:rPr sz="2550" b="1">
                <a:solidFill>
                  <a:srgbClr val="161616"/>
                </a:solidFill>
              </a:rPr>
              <a:t>Κράτηση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68056-10A4-4C71-801F-A3B5063C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048250"/>
            <a:ext cx="3981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Δημιουργεί, αλλάζει, ακυρώνει και βλέπει ιστορικό κρατήσεων.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9AB982D5-A64C-46B9-8E57-0737BE95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A8175"/>
                </a:solidFill>
              </a:defRPr>
            </a:pPr>
            <a:r>
              <a:rPr sz="1125">
                <a:solidFill>
                  <a:srgbClr val="8A8175"/>
                </a:solidFill>
              </a:rPr>
              <a:t>Main API routes: /register, /login, /theatres, /shows, /showtimes, /seats, /reservations</a:t>
            </a:r>
          </a:p>
        </p:txBody>
      </p:sp>
    </p:spTree>
    <p:extLst>
      <p:ext uri="{BB962C8B-B14F-4D97-AF65-F5344CB8AC3E}">
        <p14:creationId xmlns:p14="http://schemas.microsoft.com/office/powerpoint/2010/main" val="15511679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9A11740-6D56-414A-89A7-37CD04BD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3DC76F-38B2-4DFD-B651-15BE207F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61616"/>
                </a:solidFill>
              </a:defRPr>
            </a:pPr>
            <a:r>
              <a:rPr sz="4650" b="1">
                <a:solidFill>
                  <a:srgbClr val="161616"/>
                </a:solidFill>
              </a:rPr>
              <a:t>Πώς προστατεύονται οι κρατήσεις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FDA2BD6-810E-4997-9152-A0829F19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1219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F6570"/>
                </a:solidFill>
              </a:defRPr>
            </a:pPr>
            <a:r>
              <a:rPr sz="2100">
                <a:solidFill>
                  <a:srgbClr val="5F6570"/>
                </a:solidFill>
              </a:rPr>
              <a:t>Το πιο σημαντικό κομμάτι δεν είναι μόνο να φαίνεται μια θέση, αλλά να μην μπορεί να κρατηθεί λάθος ή διπλά.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C7474-2C6F-460A-8CCB-23D03CFF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3B2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8D211-DB58-4837-BABE-37AFD249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809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1616"/>
                </a:solidFill>
              </a:defRPr>
            </a:pPr>
            <a:r>
              <a:rPr sz="1950" b="1">
                <a:solidFill>
                  <a:srgbClr val="161616"/>
                </a:solidFill>
              </a:rPr>
              <a:t>JWT protected routes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115E5-13FE-4A80-8F89-AC073AD4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809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Οι κρατήσεις απαιτούν token, άρα κάθε request συνδέεται με συγκεκριμένο user.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0CB61-113C-4727-9663-EC0B0C3D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C8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A31CF-DE97-4988-876D-2CE183BD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33950"/>
            <a:ext cx="809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1616"/>
                </a:solidFill>
              </a:defRPr>
            </a:pPr>
            <a:r>
              <a:rPr sz="1950" b="1">
                <a:solidFill>
                  <a:srgbClr val="161616"/>
                </a:solidFill>
              </a:rPr>
              <a:t>Row Level Security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EC797-B416-4FB9-B508-B717A942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809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Ο χρήστης βλέπει μόνο το δικό του profile και τις δικές του κρατήσεις.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E6BCE-7A07-4C99-A300-1B81E242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A7E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982A7-B190-42D9-934F-C3E9641B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53100"/>
            <a:ext cx="809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1616"/>
                </a:solidFill>
              </a:defRPr>
            </a:pPr>
            <a:r>
              <a:rPr sz="1950" b="1">
                <a:solidFill>
                  <a:srgbClr val="161616"/>
                </a:solidFill>
              </a:rPr>
              <a:t>RPC functions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36907-AECF-4109-8D98-764B78F0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096000"/>
            <a:ext cx="809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Η δημιουργία και ενημέρωση κράτησης ελέγχει seat availability μέσα στη βάση.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F4804-958E-4EF4-B9CC-7BBA4135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91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A73E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A5DD7-3767-4BB9-AC59-F3029D06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591300"/>
            <a:ext cx="809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1616"/>
                </a:solidFill>
              </a:defRPr>
            </a:pPr>
            <a:r>
              <a:rPr sz="1950" b="1">
                <a:solidFill>
                  <a:srgbClr val="161616"/>
                </a:solidFill>
              </a:rPr>
              <a:t>Seat locking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10AA3-713D-40E0-BEF7-B07D7337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915150"/>
            <a:ext cx="809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Οι θέσεις κλειδώνονται στο transaction ώστε να αποφευχθούν διπλές κρατήσεις.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1C8B6-CFC9-4BBB-88EA-CE56A9CC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2653" y="2228850"/>
            <a:ext cx="7619048" cy="6838950"/>
          </a:xfrm>
          <a:prstGeom xmlns:a="http://schemas.openxmlformats.org/drawingml/2006/main" prst="roundRect">
            <a:avLst>
              <a:gd name="adj" fmla="val 3900"/>
            </a:avLst>
          </a:prstGeom>
          <a:solidFill xmlns:a="http://schemas.openxmlformats.org/drawingml/2006/main">
            <a:srgbClr val="101820"/>
          </a:solidFill>
        </p:spPr>
      </p:sp>
      <p:sp>
        <p:nvSpPr>
          <p:cNvPr id="17" name="tag-Database logic">
            <a:extLst xmlns:a="http://schemas.openxmlformats.org/drawingml/2006/main">
              <a:ext uri="{FF2B5EF4-FFF2-40B4-BE49-F238E27FC236}">
                <a16:creationId xmlns:a16="http://schemas.microsoft.com/office/drawing/2014/main" id="{EB913F86-D536-4DBA-811F-A295868E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6503" y="2552700"/>
            <a:ext cx="1375982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C8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5FC950-DCE4-4CA6-8109-66CA56E8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289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Database logic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B799E-FE2E-4572-A601-426BCE95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67050"/>
            <a:ext cx="137160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create_reservation()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5C303D-32D6-4F6C-BBDB-7E717A76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48200"/>
            <a:ext cx="1371600" cy="417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E9C8"/>
                </a:solidFill>
              </a:defRPr>
            </a:pPr>
            <a:r>
              <a:rPr sz="2100">
                <a:solidFill>
                  <a:srgbClr val="F8E9C8"/>
                </a:solidFill>
              </a:rPr>
              <a:t>1. Ελέγχει user profile</a:t>
            </a:r>
          </a:p>
          <a:p xmlns:a="http://schemas.openxmlformats.org/drawingml/2006/main">
            <a:pPr>
              <a:defRPr sz="2100">
                <a:solidFill>
                  <a:srgbClr val="F8E9C8"/>
                </a:solidFill>
              </a:defRPr>
            </a:pPr>
            <a:r>
              <a:rPr sz="2100">
                <a:solidFill>
                  <a:srgbClr val="F8E9C8"/>
                </a:solidFill>
              </a:rPr>
              <a:t>2. Ελέγχει future showtime</a:t>
            </a:r>
          </a:p>
          <a:p xmlns:a="http://schemas.openxmlformats.org/drawingml/2006/main">
            <a:pPr>
              <a:defRPr sz="2100">
                <a:solidFill>
                  <a:srgbClr val="F8E9C8"/>
                </a:solidFill>
              </a:defRPr>
            </a:pPr>
            <a:r>
              <a:rPr sz="2100">
                <a:solidFill>
                  <a:srgbClr val="F8E9C8"/>
                </a:solidFill>
              </a:rPr>
              <a:t>3. Κλειδώνει τις θέσεις</a:t>
            </a:r>
          </a:p>
          <a:p xmlns:a="http://schemas.openxmlformats.org/drawingml/2006/main">
            <a:pPr>
              <a:defRPr sz="2100">
                <a:solidFill>
                  <a:srgbClr val="F8E9C8"/>
                </a:solidFill>
              </a:defRPr>
            </a:pPr>
            <a:r>
              <a:rPr sz="2100">
                <a:solidFill>
                  <a:srgbClr val="F8E9C8"/>
                </a:solidFill>
              </a:rPr>
              <a:t>4. Υπολογίζει total price</a:t>
            </a:r>
          </a:p>
          <a:p xmlns:a="http://schemas.openxmlformats.org/drawingml/2006/main">
            <a:pPr>
              <a:defRPr sz="2100">
                <a:solidFill>
                  <a:srgbClr val="F8E9C8"/>
                </a:solidFill>
              </a:defRPr>
            </a:pPr>
            <a:r>
              <a:rPr sz="2100">
                <a:solidFill>
                  <a:srgbClr val="F8E9C8"/>
                </a:solidFill>
              </a:rPr>
              <a:t>5. Γράφει reservation + seats</a:t>
            </a:r>
          </a:p>
        </p:txBody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2C7AE427-39FD-4D50-B3BC-957F34E7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A8175"/>
                </a:solidFill>
              </a:defRPr>
            </a:pPr>
            <a:r>
              <a:rPr sz="1125">
                <a:solidFill>
                  <a:srgbClr val="8A8175"/>
                </a:solidFill>
              </a:rPr>
              <a:t>Υλοποίηση στο solution/supabase/schema.sql</a:t>
            </a:r>
          </a:p>
        </p:txBody>
      </p:sp>
    </p:spTree>
    <p:extLst>
      <p:ext uri="{BB962C8B-B14F-4D97-AF65-F5344CB8AC3E}">
        <p14:creationId xmlns:p14="http://schemas.microsoft.com/office/powerpoint/2010/main" val="13965681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1CF3AAF-CFA4-4E49-8436-858CE22D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E7CDDA-C0DC-41E1-BAAE-67B1B5E3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6535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61616"/>
                </a:solidFill>
              </a:defRPr>
            </a:pPr>
            <a:r>
              <a:rPr sz="4650" b="1">
                <a:solidFill>
                  <a:srgbClr val="161616"/>
                </a:solidFill>
              </a:rPr>
              <a:t>Τελικό αποτέλεσμα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15F47ED-14F5-48A3-BB63-C3852AA7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12420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F6570"/>
                </a:solidFill>
              </a:defRPr>
            </a:pPr>
            <a:r>
              <a:rPr sz="2100">
                <a:solidFill>
                  <a:srgbClr val="5F6570"/>
                </a:solidFill>
              </a:rPr>
              <a:t>Η εργασία καλύπτει την ζητούμενη distributed system λογική με mobile frontend, REST backend και database/auth layer.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C7BC0-2667-454D-8F13-7FC9D550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A7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80A2-21A8-4022-9EB0-34CD6055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7696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1616"/>
                </a:solidFill>
              </a:defRPr>
            </a:pPr>
            <a:r>
              <a:rPr sz="1950" b="1">
                <a:solidFill>
                  <a:srgbClr val="161616"/>
                </a:solidFill>
              </a:rPr>
              <a:t>Καθαρή δομή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005EF-7B4D-471E-92FB-2D708B75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Το project χωρίζεται σε mobile, API και Supabase schema.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8F794-A657-4CE4-BF3F-A70E6EA4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3B2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C8671-D10C-4B1C-82D0-6CE212C3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05450"/>
            <a:ext cx="7696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1616"/>
                </a:solidFill>
              </a:defRPr>
            </a:pPr>
            <a:r>
              <a:rPr sz="1950" b="1">
                <a:solidFill>
                  <a:srgbClr val="161616"/>
                </a:solidFill>
              </a:rPr>
              <a:t>Πλήρης λειτουργικότητα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CAA73-745D-4E57-8228-CECA383A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4835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Registration, login, browsing, search, seat map, create/update/cancel reservations.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62647-D923-4855-A4B6-C6478DF5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436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C8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1AB7D-AE4B-4914-8F02-21287746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343650"/>
            <a:ext cx="7696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1616"/>
                </a:solidFill>
              </a:defRPr>
            </a:pPr>
            <a:r>
              <a:rPr sz="1950" b="1">
                <a:solidFill>
                  <a:srgbClr val="161616"/>
                </a:solidFill>
              </a:rPr>
              <a:t>Ασφάλεια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04070-7739-42BB-9627-EA6F2CE6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6675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570"/>
                </a:solidFill>
              </a:defRPr>
            </a:pPr>
            <a:r>
              <a:rPr sz="1725">
                <a:solidFill>
                  <a:srgbClr val="5F6570"/>
                </a:solidFill>
              </a:rPr>
              <a:t>JWT, middleware, RLS policies και backend-only service role key.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DA5CC-FA2B-4F8E-9E48-E6BF26B4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48890"/>
            <a:ext cx="8020050" cy="6518910"/>
          </a:xfrm>
          <a:prstGeom xmlns:a="http://schemas.openxmlformats.org/drawingml/2006/main" prst="roundRect">
            <a:avLst>
              <a:gd name="adj" fmla="val 4676"/>
            </a:avLst>
          </a:prstGeom>
          <a:solidFill xmlns:a="http://schemas.openxmlformats.org/drawingml/2006/main">
            <a:srgbClr val="FFF9E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BA0A1-2444-406F-A9E9-9F66BE1A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14650"/>
            <a:ext cx="1847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F6570"/>
                </a:solidFill>
              </a:defRPr>
            </a:pPr>
            <a:r>
              <a:rPr sz="2250">
                <a:solidFill>
                  <a:srgbClr val="5F6570"/>
                </a:solidFill>
              </a:rPr>
              <a:t>Με απλά λόγια: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346988-31B9-454A-86F5-B52890FC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24250"/>
            <a:ext cx="2476500" cy="655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61616"/>
                </a:solidFill>
              </a:defRPr>
            </a:pPr>
            <a:r>
              <a:rPr sz="3900" b="1">
                <a:solidFill>
                  <a:srgbClr val="161616"/>
                </a:solidFill>
              </a:rPr>
              <a:t>Έφτιαξα μια εφαρμογή που μοιάζει με πραγματικό σύστημα κρατήσεων, όχι απλώς με στατική οθόνη.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200D3-9CD3-40E2-B470-28ED3DB4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03251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3B2F"/>
          </a:solidFill>
          <a:ln xmlns:a="http://schemas.openxmlformats.org/drawingml/2006/main" w="0">
            <a:solidFill>
              <a:srgbClr val="C53B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C679C1-EAA6-4760-9C77-D201C08E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0648950"/>
            <a:ext cx="24765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F6570"/>
                </a:solidFill>
              </a:defRPr>
            </a:pPr>
            <a:r>
              <a:rPr sz="1950">
                <a:solidFill>
                  <a:srgbClr val="5F6570"/>
                </a:solidFill>
              </a:rPr>
              <a:t>Το frontend μιλάει με API, το API ελέγχει τον χρήστη, και η βάση διαχειρίζεται αξιόπιστα τα δεδομένα των κρατήσεων.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10BAB588-1277-4D33-9261-F4771495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2975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A8175"/>
                </a:solidFill>
              </a:defRPr>
            </a:pPr>
            <a:r>
              <a:rPr sz="1125">
                <a:solidFill>
                  <a:srgbClr val="8A8175"/>
                </a:solidFill>
              </a:rPr>
              <a:t>Deck generated from local assignment files in the theater workspace</a:t>
            </a:r>
          </a:p>
        </p:txBody>
      </p:sp>
    </p:spTree>
    <p:extLst>
      <p:ext uri="{BB962C8B-B14F-4D97-AF65-F5344CB8AC3E}">
        <p14:creationId xmlns:p14="http://schemas.microsoft.com/office/powerpoint/2010/main" val="15024777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2026-05-18T18:11:24.2890000Z</dcterms:created>
  <dcterms:modified xsi:type="dcterms:W3CDTF">2026-05-18T18:11:24.2890000Z</dcterms:modified>
</coreProperties>
</file>